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Libre Franklin"/>
      <p:regular r:id="rId10"/>
      <p:bold r:id="rId11"/>
      <p:italic r:id="rId12"/>
      <p:boldItalic r:id="rId13"/>
    </p:embeddedFont>
    <p:embeddedFont>
      <p:font typeface="Roboto"/>
      <p:regular r:id="rId14"/>
      <p:bold r:id="rId15"/>
      <p:italic r:id="rId16"/>
      <p:boldItalic r:id="rId17"/>
    </p:embeddedFont>
    <p:embeddedFont>
      <p:font typeface="Franklin Gothic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+/WoEs065MguD/w8W5VbdQMeo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5444CE-6021-4A98-953A-E2748ED2F0F7}">
  <a:tblStyle styleId="{385444CE-6021-4A98-953A-E2748ED2F0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ibreFranklin-bold.fntdata"/><Relationship Id="rId10" Type="http://schemas.openxmlformats.org/officeDocument/2006/relationships/font" Target="fonts/LibreFranklin-regular.fntdata"/><Relationship Id="rId13" Type="http://schemas.openxmlformats.org/officeDocument/2006/relationships/font" Target="fonts/LibreFranklin-boldItalic.fntdata"/><Relationship Id="rId12" Type="http://schemas.openxmlformats.org/officeDocument/2006/relationships/font" Target="fonts/LibreFranklin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Franklin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/>
          <p:nvPr>
            <p:ph idx="1" type="body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/>
          <p:nvPr>
            <p:ph idx="2" type="pic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">
  <p:cSld name="Summary 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5" type="body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6" type="body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7" type="body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8" type="body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9" type="body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3" type="body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10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10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3" name="Google Shape;63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6" name="Google Shape;66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10"/>
          <p:cNvSpPr txBox="1"/>
          <p:nvPr>
            <p:ph idx="3" type="body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4" type="body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9" name="Google Shape;69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" name="Google Shape;70;p10"/>
          <p:cNvSpPr txBox="1"/>
          <p:nvPr>
            <p:ph idx="5" type="body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6" type="body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" name="Google Shape;73;p10"/>
          <p:cNvSpPr txBox="1"/>
          <p:nvPr>
            <p:ph idx="7" type="body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8" type="body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5" name="Google Shape;75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" name="Google Shape;76;p10"/>
          <p:cNvSpPr txBox="1"/>
          <p:nvPr>
            <p:ph idx="9" type="body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3" type="body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">
  <p:cSld name="Break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/>
          <p:nvPr>
            <p:ph idx="2" type="pic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11"/>
          <p:cNvSpPr txBox="1"/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b="1" i="0" sz="41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4" name="Google Shape;84;p11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5" name="Google Shape;85;p11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11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>
            <p:ph idx="2" type="chart"/>
          </p:nvPr>
        </p:nvSpPr>
        <p:spPr>
          <a:xfrm>
            <a:off x="952500" y="1939108"/>
            <a:ext cx="10352810" cy="4110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1" name="Google Shape;91;p12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b="0" i="0" sz="2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1" i="0" lang="en-US" sz="20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04" name="Google Shape;104;p14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5"/>
          <p:cNvSpPr/>
          <p:nvPr>
            <p:ph idx="2" type="pic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0" name="Google Shape;120;p15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cap="flat" cmpd="sng" w="1016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15"/>
          <p:cNvSpPr/>
          <p:nvPr>
            <p:ph idx="3" type="pic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4" type="body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5" type="body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6" type="body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7" type="body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8" type="body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idx="9" type="body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13" type="body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30" name="Google Shape;130;p1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5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5"/>
          <p:cNvSpPr/>
          <p:nvPr>
            <p:ph idx="14" type="pic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/>
          <p:nvPr>
            <p:ph idx="15" type="pic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5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">
  <p:cSld name="Timeline "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6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" name="Google Shape;143;p16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" name="Google Shape;144;p16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16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2" type="body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3" type="body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4" type="body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5" type="body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16"/>
          <p:cNvSpPr txBox="1"/>
          <p:nvPr>
            <p:ph idx="6" type="body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6"/>
          <p:cNvSpPr txBox="1"/>
          <p:nvPr>
            <p:ph idx="7" type="body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16"/>
          <p:cNvSpPr txBox="1"/>
          <p:nvPr>
            <p:ph idx="8" type="body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55" name="Google Shape;155;p16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cap="flat" cmpd="sng" w="1651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16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6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6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">
  <p:cSld name="2 Col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7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9" name="Google Shape;169;p17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17"/>
          <p:cNvSpPr txBox="1"/>
          <p:nvPr>
            <p:ph idx="1" type="body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1" name="Google Shape;171;p17"/>
          <p:cNvSpPr txBox="1"/>
          <p:nvPr>
            <p:ph idx="2" type="body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17"/>
          <p:cNvSpPr txBox="1"/>
          <p:nvPr>
            <p:ph idx="3" type="body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17"/>
          <p:cNvSpPr txBox="1"/>
          <p:nvPr>
            <p:ph idx="4" type="body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74" name="Google Shape;174;p17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p17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7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">
  <p:cSld name="3 col"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8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4" name="Google Shape;184;p1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" name="Google Shape;185;p18"/>
          <p:cNvSpPr txBox="1"/>
          <p:nvPr>
            <p:ph idx="1" type="body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6" name="Google Shape;186;p18"/>
          <p:cNvSpPr txBox="1"/>
          <p:nvPr>
            <p:ph idx="2" type="body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3" type="body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8" name="Google Shape;188;p18"/>
          <p:cNvSpPr txBox="1"/>
          <p:nvPr>
            <p:ph idx="4" type="body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18"/>
          <p:cNvSpPr txBox="1"/>
          <p:nvPr>
            <p:ph idx="5" type="body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0" name="Google Shape;190;p18"/>
          <p:cNvSpPr txBox="1"/>
          <p:nvPr>
            <p:ph idx="6" type="body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91" name="Google Shape;191;p18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18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8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8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 sz="16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19"/>
          <p:cNvSpPr txBox="1"/>
          <p:nvPr>
            <p:ph idx="2" type="subTitle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0" name="Google Shape;200;p19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19"/>
          <p:cNvSpPr/>
          <p:nvPr>
            <p:ph idx="3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idx="1" type="body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"/>
          <p:cNvSpPr txBox="1"/>
          <p:nvPr>
            <p:ph type="ctrTitle"/>
          </p:nvPr>
        </p:nvSpPr>
        <p:spPr>
          <a:xfrm>
            <a:off x="5250254" y="148172"/>
            <a:ext cx="6461759" cy="1151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b="1" lang="en-US" sz="3600"/>
              <a:t>Basic Details of the Team and Problem Statement</a:t>
            </a:r>
            <a:endParaRPr/>
          </a:p>
        </p:txBody>
      </p:sp>
      <p:sp>
        <p:nvSpPr>
          <p:cNvPr id="211" name="Google Shape;211;p1"/>
          <p:cNvSpPr txBox="1"/>
          <p:nvPr>
            <p:ph idx="1" type="body"/>
          </p:nvPr>
        </p:nvSpPr>
        <p:spPr>
          <a:xfrm>
            <a:off x="4229100" y="1492825"/>
            <a:ext cx="8006100" cy="4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  <a:t>Ministry/Organization Name/Student Innovation: Ministry of Law and Justice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  <a:t>PS Code: 1282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  <a:t>   </a:t>
            </a:r>
            <a:b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  <a:t>Problem Statement Title: Tech-Driven Solutions for Undertrial Prisoners in India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  <a:t>Team Name: NoobCoderException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  <a:t>Team Leader Name: Sobika Sree Ramesh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  <a:t>Institute Code (AISHE): C-16604</a:t>
            </a:r>
            <a:endParaRPr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  <a:t>Institute Name: Sri Sivasubramaniya Nadar College of Engineering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t/>
            </a:r>
            <a:endParaRPr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>
                <a:latin typeface="Franklin Gothic"/>
                <a:ea typeface="Franklin Gothic"/>
                <a:cs typeface="Franklin Gothic"/>
                <a:sym typeface="Franklin Gothic"/>
              </a:rPr>
              <a:t>Theme Name: Miscellaneous</a:t>
            </a:r>
            <a:endParaRPr/>
          </a:p>
        </p:txBody>
      </p:sp>
      <p:pic>
        <p:nvPicPr>
          <p:cNvPr id="212" name="Google Shape;2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3475" y="252206"/>
            <a:ext cx="3330245" cy="167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/>
          <p:nvPr/>
        </p:nvSpPr>
        <p:spPr>
          <a:xfrm>
            <a:off x="856575" y="1770275"/>
            <a:ext cx="2496300" cy="39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8" name="Google Shape;218;p2"/>
          <p:cNvSpPr txBox="1"/>
          <p:nvPr>
            <p:ph type="title"/>
          </p:nvPr>
        </p:nvSpPr>
        <p:spPr>
          <a:xfrm>
            <a:off x="380998" y="17763"/>
            <a:ext cx="55344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/>
              <a:t>Idea/Approach Details</a:t>
            </a:r>
            <a:endParaRPr/>
          </a:p>
        </p:txBody>
      </p:sp>
      <p:sp>
        <p:nvSpPr>
          <p:cNvPr id="219" name="Google Shape;219;p2"/>
          <p:cNvSpPr txBox="1"/>
          <p:nvPr>
            <p:ph idx="1" type="body"/>
          </p:nvPr>
        </p:nvSpPr>
        <p:spPr>
          <a:xfrm>
            <a:off x="299800" y="800100"/>
            <a:ext cx="7466400" cy="595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9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Describe your idea/Solution/Prototype here:</a:t>
            </a:r>
            <a:endParaRPr sz="1900">
              <a:solidFill>
                <a:schemeClr val="lt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t/>
            </a:r>
            <a:endParaRPr sz="800">
              <a:solidFill>
                <a:schemeClr val="lt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/>
              <a:t>A mobile application (of two instances) </a:t>
            </a:r>
            <a:r>
              <a:rPr lang="en-US" sz="1400"/>
              <a:t>with</a:t>
            </a:r>
            <a:r>
              <a:rPr b="1" lang="en-US" sz="1400"/>
              <a:t> regional language support</a:t>
            </a:r>
            <a:r>
              <a:rPr lang="en-US" sz="1400"/>
              <a:t> to simplify legal processes for </a:t>
            </a:r>
            <a:r>
              <a:rPr b="1" lang="en-US" sz="1400"/>
              <a:t>undertrial prisoners (UTP), lawyers, and authorities: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/>
              <a:t>1. </a:t>
            </a:r>
            <a:r>
              <a:rPr b="1" lang="en-US" sz="1400" u="sng"/>
              <a:t>E-Vakeel (For UTPs/Support Persons and Lawyers):</a:t>
            </a:r>
            <a:endParaRPr b="1" sz="1400" u="sng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/>
              <a:t>Automatically get </a:t>
            </a:r>
            <a:r>
              <a:rPr b="1" lang="en-US" sz="1400"/>
              <a:t>assigned a lawyer using AI</a:t>
            </a:r>
            <a:r>
              <a:rPr lang="en-US" sz="1400"/>
              <a:t> </a:t>
            </a:r>
            <a:r>
              <a:rPr b="1" lang="en-US" sz="1400"/>
              <a:t>Suggestion System</a:t>
            </a:r>
            <a:r>
              <a:rPr lang="en-US" sz="1400"/>
              <a:t>. [Alternative option to choose lawyer of choice based on filters and requirements from displayed list of lawyers].</a:t>
            </a:r>
            <a:endParaRPr sz="14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n-US" sz="1400"/>
              <a:t>Access a </a:t>
            </a:r>
            <a:r>
              <a:rPr b="1" lang="en-US" sz="1400"/>
              <a:t>fully functional dashboard </a:t>
            </a:r>
            <a:r>
              <a:rPr lang="en-US" sz="1400"/>
              <a:t>[ UTP Details, Allocated Pro-Bono Lawyers, Progress of case.]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/>
              <a:t>Utilize an </a:t>
            </a:r>
            <a:r>
              <a:rPr b="1" lang="en-US" sz="1400"/>
              <a:t>context-aware legal aid chatbot.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-US" sz="1400"/>
              <a:t>Digitalization of Bail &amp; Parole </a:t>
            </a:r>
            <a:r>
              <a:rPr lang="en-US" sz="1400"/>
              <a:t>application process.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-US" sz="1400"/>
              <a:t>Connect with therapists </a:t>
            </a:r>
            <a:r>
              <a:rPr lang="en-US" sz="1400"/>
              <a:t>and counselors for </a:t>
            </a:r>
            <a:r>
              <a:rPr b="1" lang="en-US" sz="1400"/>
              <a:t>Mental Health Support</a:t>
            </a:r>
            <a:r>
              <a:rPr lang="en-US" sz="1400"/>
              <a:t> [ Legal Clinics ].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/>
              <a:t>Explore a </a:t>
            </a:r>
            <a:r>
              <a:rPr b="1" lang="en-US" sz="1400"/>
              <a:t>digital library</a:t>
            </a:r>
            <a:r>
              <a:rPr lang="en-US" sz="1400"/>
              <a:t> of mental health and </a:t>
            </a:r>
            <a:r>
              <a:rPr b="1" lang="en-US" sz="1400"/>
              <a:t>legal knowledge books</a:t>
            </a:r>
            <a:r>
              <a:rPr lang="en-US" sz="1400"/>
              <a:t> and manuals.</a:t>
            </a:r>
            <a:endParaRPr sz="14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n-US" sz="1400"/>
              <a:t>Providing a </a:t>
            </a:r>
            <a:r>
              <a:rPr b="1" lang="en-US" sz="1400"/>
              <a:t>post-trial list of volunteering services</a:t>
            </a:r>
            <a:r>
              <a:rPr lang="en-US" sz="1400"/>
              <a:t> for undertrial prisoners upon their release for social reintegration.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2. </a:t>
            </a:r>
            <a:r>
              <a:rPr b="1" lang="en-US" sz="1400" u="sng"/>
              <a:t>E-Vakeel Admin (For Authorities/Under Trial Review Committees[UTRC] and Judges):</a:t>
            </a:r>
            <a:endParaRPr b="1" sz="1400" u="sng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</a:pPr>
            <a:r>
              <a:rPr b="1" lang="en-US" sz="1400"/>
              <a:t>Priority Dashboard </a:t>
            </a:r>
            <a:r>
              <a:rPr lang="en-US" sz="1400"/>
              <a:t>to fast-track cases of long serving UTP [ </a:t>
            </a:r>
            <a:r>
              <a:rPr b="1" lang="en-US" sz="1400"/>
              <a:t>search with FIR number</a:t>
            </a:r>
            <a:r>
              <a:rPr lang="en-US" sz="1400"/>
              <a:t> ]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</a:pPr>
            <a:r>
              <a:rPr b="1" lang="en-US" sz="1400"/>
              <a:t>Set up video calls</a:t>
            </a:r>
            <a:r>
              <a:rPr lang="en-US" sz="1400"/>
              <a:t> for UTPs with judges for trials.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</a:pPr>
            <a:r>
              <a:rPr b="1" lang="en-US" sz="1400"/>
              <a:t>Grant or reject bail requests </a:t>
            </a:r>
            <a:r>
              <a:rPr lang="en-US" sz="1400"/>
              <a:t>efficiently.</a:t>
            </a:r>
            <a:endParaRPr sz="1400"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</a:pPr>
            <a:r>
              <a:rPr b="1" lang="en-US" sz="1400"/>
              <a:t>UTRC: Regulating personal bonds </a:t>
            </a:r>
            <a:r>
              <a:rPr lang="en-US" sz="1400"/>
              <a:t>for those UTPs who have completed half of their sentence period.</a:t>
            </a:r>
            <a:endParaRPr sz="1400"/>
          </a:p>
        </p:txBody>
      </p:sp>
      <p:sp>
        <p:nvSpPr>
          <p:cNvPr id="220" name="Google Shape;220;p2"/>
          <p:cNvSpPr txBox="1"/>
          <p:nvPr>
            <p:ph idx="12" type="sldNum"/>
          </p:nvPr>
        </p:nvSpPr>
        <p:spPr>
          <a:xfrm>
            <a:off x="541400" y="650557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2"/>
          <p:cNvSpPr txBox="1"/>
          <p:nvPr/>
        </p:nvSpPr>
        <p:spPr>
          <a:xfrm>
            <a:off x="7886700" y="5056925"/>
            <a:ext cx="4071000" cy="166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Describe your Technology stack here</a:t>
            </a:r>
            <a:r>
              <a:rPr b="0" i="0" lang="en-US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 b="0" i="0" sz="16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Application Development:</a:t>
            </a:r>
            <a:endParaRPr b="1" sz="1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ibre Franklin"/>
              <a:buChar char="●"/>
            </a:pPr>
            <a:r>
              <a:rPr lang="en-US" sz="1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ReactJS</a:t>
            </a:r>
            <a:endParaRPr sz="1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ibre Franklin"/>
              <a:buChar char="●"/>
            </a:pPr>
            <a:r>
              <a:rPr lang="en-US" sz="1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Capacitor.js</a:t>
            </a:r>
            <a:endParaRPr sz="1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ibre Franklin"/>
              <a:buChar char="●"/>
            </a:pPr>
            <a:r>
              <a:rPr lang="en-US" sz="1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Ionic framework</a:t>
            </a:r>
            <a:endParaRPr sz="1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Database:</a:t>
            </a:r>
            <a:endParaRPr b="1" sz="1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ibre Franklin"/>
              <a:buChar char="●"/>
            </a:pPr>
            <a:r>
              <a:rPr lang="en-US" sz="1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NotionDB</a:t>
            </a:r>
            <a:endParaRPr b="0" i="0" sz="16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22" name="Google Shape;22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3375" y="152400"/>
            <a:ext cx="1055325" cy="228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7675" y="152400"/>
            <a:ext cx="1055325" cy="228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"/>
          <p:cNvPicPr preferRelativeResize="0"/>
          <p:nvPr/>
        </p:nvPicPr>
        <p:blipFill rotWithShape="1">
          <a:blip r:embed="rId5">
            <a:alphaModFix/>
          </a:blip>
          <a:srcRect b="2940" l="0" r="0" t="0"/>
          <a:stretch/>
        </p:blipFill>
        <p:spPr>
          <a:xfrm>
            <a:off x="9373375" y="2541125"/>
            <a:ext cx="1055325" cy="238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12300" y="2535950"/>
            <a:ext cx="1140875" cy="238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65350" y="2541113"/>
            <a:ext cx="1140875" cy="245793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"/>
          <p:cNvSpPr txBox="1"/>
          <p:nvPr/>
        </p:nvSpPr>
        <p:spPr>
          <a:xfrm>
            <a:off x="10265875" y="5318800"/>
            <a:ext cx="1691700" cy="12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AI Chatbot:</a:t>
            </a:r>
            <a:endParaRPr b="1"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ibre Franklin"/>
              <a:buChar char="●"/>
            </a:pPr>
            <a:r>
              <a:rPr lang="en-US" sz="1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LLM API</a:t>
            </a:r>
            <a:endParaRPr sz="1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ibre Franklin"/>
              <a:buChar char="●"/>
            </a:pPr>
            <a:r>
              <a:rPr lang="en-US" sz="1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Langchain</a:t>
            </a:r>
            <a:endParaRPr sz="1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ibre Franklin"/>
              <a:buChar char="●"/>
            </a:pPr>
            <a:r>
              <a:rPr lang="en-US" sz="1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Python3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28" name="Google Shape;228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34200" y="170175"/>
            <a:ext cx="1140875" cy="222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"/>
          <p:cNvSpPr txBox="1"/>
          <p:nvPr>
            <p:ph type="title"/>
          </p:nvPr>
        </p:nvSpPr>
        <p:spPr>
          <a:xfrm>
            <a:off x="195749" y="75596"/>
            <a:ext cx="5780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/>
              <a:t>Idea/Approach Details</a:t>
            </a:r>
            <a:endParaRPr/>
          </a:p>
        </p:txBody>
      </p:sp>
      <p:sp>
        <p:nvSpPr>
          <p:cNvPr id="234" name="Google Shape;234;p3"/>
          <p:cNvSpPr txBox="1"/>
          <p:nvPr>
            <p:ph idx="2" type="body"/>
          </p:nvPr>
        </p:nvSpPr>
        <p:spPr>
          <a:xfrm>
            <a:off x="6015500" y="41800"/>
            <a:ext cx="48387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/>
              <a:t>Describe your Use Cases here</a:t>
            </a:r>
            <a:endParaRPr/>
          </a:p>
        </p:txBody>
      </p:sp>
      <p:sp>
        <p:nvSpPr>
          <p:cNvPr id="235" name="Google Shape;235;p3"/>
          <p:cNvSpPr txBox="1"/>
          <p:nvPr>
            <p:ph idx="1" type="body"/>
          </p:nvPr>
        </p:nvSpPr>
        <p:spPr>
          <a:xfrm>
            <a:off x="6090925" y="357700"/>
            <a:ext cx="6042600" cy="363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sng"/>
              <a:t>E-Vakeel (For UTPs/Support Persons and Lawyers):</a:t>
            </a:r>
            <a:endParaRPr b="1" sz="1100" u="sng"/>
          </a:p>
          <a:p>
            <a:pPr indent="-1524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100">
                <a:latin typeface="Roboto"/>
                <a:ea typeface="Roboto"/>
                <a:cs typeface="Roboto"/>
                <a:sym typeface="Roboto"/>
              </a:rPr>
              <a:t>UTPs/Support Persons: </a:t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524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100">
                <a:latin typeface="Roboto"/>
                <a:ea typeface="Roboto"/>
                <a:cs typeface="Roboto"/>
                <a:sym typeface="Roboto"/>
              </a:rPr>
              <a:t>Lawyers:</a:t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  <a:p>
            <a:pPr indent="-209550" lvl="1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100">
                <a:latin typeface="Roboto"/>
                <a:ea typeface="Roboto"/>
                <a:cs typeface="Roboto"/>
                <a:sym typeface="Roboto"/>
              </a:rPr>
              <a:t>View UTP requests for legal representation, 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09550" lvl="1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100">
                <a:latin typeface="Roboto"/>
                <a:ea typeface="Roboto"/>
                <a:cs typeface="Roboto"/>
                <a:sym typeface="Roboto"/>
              </a:rPr>
              <a:t>Access a consolidated dashboard for case management.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sng">
                <a:latin typeface="Roboto"/>
                <a:ea typeface="Roboto"/>
                <a:cs typeface="Roboto"/>
                <a:sym typeface="Roboto"/>
              </a:rPr>
              <a:t>E-Vakeel Admin (For Authorities/Under Trial Review Committees and Judges):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524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100">
                <a:latin typeface="Roboto"/>
                <a:ea typeface="Roboto"/>
                <a:cs typeface="Roboto"/>
                <a:sym typeface="Roboto"/>
              </a:rPr>
              <a:t>Authorities/Judges:</a:t>
            </a:r>
            <a:r>
              <a:rPr lang="en-US" sz="1100"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36" name="Google Shape;236;p3"/>
          <p:cNvSpPr txBox="1"/>
          <p:nvPr>
            <p:ph idx="12" type="sldNum"/>
          </p:nvPr>
        </p:nvSpPr>
        <p:spPr>
          <a:xfrm>
            <a:off x="141325" y="6598645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3"/>
          <p:cNvSpPr txBox="1"/>
          <p:nvPr/>
        </p:nvSpPr>
        <p:spPr>
          <a:xfrm>
            <a:off x="6015500" y="3993700"/>
            <a:ext cx="60426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Describe your Dependencies / Show stopper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"/>
          <p:cNvSpPr txBox="1"/>
          <p:nvPr/>
        </p:nvSpPr>
        <p:spPr>
          <a:xfrm>
            <a:off x="6090925" y="4309600"/>
            <a:ext cx="6042600" cy="238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Sources: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Code of Criminal Procedure 1973 [ Legal Information ]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Bar Council of India  [ List of Lawyers ]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e-Court Services Portal [ Status of Case-Dashboard ]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 Prison Manual 2016 [ Legal Information-ChatBot ]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Standard Operating Procedure for UTRC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District Crime Records Bureau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Show Stoppers: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users are required to use this application for effective implementation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Reliance of Government Data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Language &amp; Literacy Barriers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aphicFrame>
        <p:nvGraphicFramePr>
          <p:cNvPr id="239" name="Google Shape;239;p3"/>
          <p:cNvGraphicFramePr/>
          <p:nvPr/>
        </p:nvGraphicFramePr>
        <p:xfrm>
          <a:off x="6383100" y="920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{385444CE-6021-4A98-953A-E2748ED2F0F7}</a:tableStyleId>
              </a:tblPr>
              <a:tblGrid>
                <a:gridCol w="3072625"/>
                <a:gridCol w="2969925"/>
              </a:tblGrid>
              <a:tr h="958825">
                <a:tc>
                  <a:txBody>
                    <a:bodyPr/>
                    <a:lstStyle/>
                    <a:p>
                      <a:pPr indent="-195834" lvl="1" marL="5486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Automatic lawyer Allocation within 24 hrs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195834" lvl="1" marL="5486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Receive legal Information from an AI chatbot, 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195834" lvl="1" marL="5486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Track case progress through Dashboard, 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95834" lvl="1" marL="5486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Apply for bail or parole digitally, 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195834" lvl="1" marL="5486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Access mental health support, 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195834" lvl="1" marL="5486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Educational resources and post-trial volunteering services.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0" name="Google Shape;240;p3"/>
          <p:cNvGraphicFramePr/>
          <p:nvPr/>
        </p:nvGraphicFramePr>
        <p:xfrm>
          <a:off x="6392175" y="3255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{385444CE-6021-4A98-953A-E2748ED2F0F7}</a:tableStyleId>
              </a:tblPr>
              <a:tblGrid>
                <a:gridCol w="2909700"/>
                <a:gridCol w="2812400"/>
              </a:tblGrid>
              <a:tr h="870300">
                <a:tc>
                  <a:txBody>
                    <a:bodyPr/>
                    <a:lstStyle/>
                    <a:p>
                      <a:pPr indent="-195834" lvl="1" marL="5486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Monitor case progress under Jurisdiction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195834" lvl="1" marL="5486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Conduct speedy trials via video calls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23850" lvl="1" marL="36576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Efficiently manage bail requests. 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1" marL="36576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○"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UTRC members can regulate personal bonds to reduce prison overcrowding.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3"/>
          <p:cNvSpPr/>
          <p:nvPr/>
        </p:nvSpPr>
        <p:spPr>
          <a:xfrm>
            <a:off x="800100" y="1707350"/>
            <a:ext cx="2702700" cy="39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42" name="Google Shape;24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00" y="763475"/>
            <a:ext cx="5026751" cy="583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"/>
          <p:cNvSpPr txBox="1"/>
          <p:nvPr>
            <p:ph type="title"/>
          </p:nvPr>
        </p:nvSpPr>
        <p:spPr>
          <a:xfrm>
            <a:off x="964023" y="879063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/>
              <a:t>Team Member Details </a:t>
            </a:r>
            <a:endParaRPr/>
          </a:p>
        </p:txBody>
      </p:sp>
      <p:sp>
        <p:nvSpPr>
          <p:cNvPr id="248" name="Google Shape;248;p4"/>
          <p:cNvSpPr txBox="1"/>
          <p:nvPr>
            <p:ph idx="1" type="body"/>
          </p:nvPr>
        </p:nvSpPr>
        <p:spPr>
          <a:xfrm>
            <a:off x="964023" y="2062099"/>
            <a:ext cx="11145119" cy="4720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200">
                <a:solidFill>
                  <a:srgbClr val="5D7C3F"/>
                </a:solidFill>
              </a:rPr>
              <a:t>Team Leader Name: Sobika Sree Ramesh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Branch : Btech		Stream : IT			Year : IV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200">
                <a:solidFill>
                  <a:srgbClr val="5D7C3F"/>
                </a:solidFill>
              </a:rPr>
              <a:t>Team Member 1 Name: Gunanicaa Arun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Branch : </a:t>
            </a:r>
            <a:r>
              <a:rPr lang="en-US" sz="1200"/>
              <a:t>Btech	</a:t>
            </a:r>
            <a:r>
              <a:rPr lang="en-US" sz="1200"/>
              <a:t>	Stream : </a:t>
            </a:r>
            <a:r>
              <a:rPr lang="en-US" sz="1200"/>
              <a:t>IT	</a:t>
            </a:r>
            <a:r>
              <a:rPr lang="en-US" sz="1200"/>
              <a:t>		Year : </a:t>
            </a:r>
            <a:r>
              <a:rPr lang="en-US" sz="1200"/>
              <a:t>IV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200">
                <a:solidFill>
                  <a:srgbClr val="5D7C3F"/>
                </a:solidFill>
              </a:rPr>
              <a:t>Team Member 2 Mayuri Balajee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Branch : </a:t>
            </a:r>
            <a:r>
              <a:rPr lang="en-US" sz="1200"/>
              <a:t>Btech	 	</a:t>
            </a:r>
            <a:r>
              <a:rPr lang="en-US" sz="1200"/>
              <a:t>Stream : </a:t>
            </a:r>
            <a:r>
              <a:rPr lang="en-US" sz="1200"/>
              <a:t>IT	</a:t>
            </a:r>
            <a:r>
              <a:rPr lang="en-US" sz="1200"/>
              <a:t>		Year : </a:t>
            </a:r>
            <a:r>
              <a:rPr lang="en-US" sz="1200"/>
              <a:t>IV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200">
                <a:solidFill>
                  <a:srgbClr val="5D7C3F"/>
                </a:solidFill>
              </a:rPr>
              <a:t>Team Member 3 Name: Lekha Chenguttuvan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Branch: </a:t>
            </a:r>
            <a:r>
              <a:rPr lang="en-US" sz="1200"/>
              <a:t>B.E	</a:t>
            </a:r>
            <a:r>
              <a:rPr lang="en-US" sz="1200"/>
              <a:t>		Stream : CSE		Year : </a:t>
            </a:r>
            <a:r>
              <a:rPr lang="en-US" sz="1200"/>
              <a:t>IV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200">
                <a:solidFill>
                  <a:srgbClr val="5D7C3F"/>
                </a:solidFill>
              </a:rPr>
              <a:t>Team Member 4 Name: Varsha Sivaramakrishnan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Branch : </a:t>
            </a:r>
            <a:r>
              <a:rPr lang="en-US" sz="1200"/>
              <a:t>B.E	</a:t>
            </a:r>
            <a:r>
              <a:rPr lang="en-US" sz="1200"/>
              <a:t>		Stream : CSE		Year : </a:t>
            </a:r>
            <a:r>
              <a:rPr lang="en-US" sz="1200"/>
              <a:t>IV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200">
                <a:solidFill>
                  <a:srgbClr val="5D7C3F"/>
                </a:solidFill>
              </a:rPr>
              <a:t>Team Member 5 Name: Sruti K 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Branch : </a:t>
            </a:r>
            <a:r>
              <a:rPr lang="en-US" sz="1200"/>
              <a:t>B.E</a:t>
            </a:r>
            <a:r>
              <a:rPr lang="en-US" sz="1200"/>
              <a:t>		             Stream : ECE		               Year : </a:t>
            </a:r>
            <a:r>
              <a:rPr lang="en-US" sz="1200"/>
              <a:t>IV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4160"/>
              </a:buClr>
              <a:buSzPts val="1200"/>
              <a:buNone/>
            </a:pPr>
            <a:r>
              <a:rPr b="1" lang="en-US" sz="1200">
                <a:solidFill>
                  <a:srgbClr val="804160"/>
                </a:solidFill>
              </a:rPr>
              <a:t>Team Mentor 1 Name: </a:t>
            </a:r>
            <a:r>
              <a:rPr b="1" lang="en-US" sz="1200">
                <a:solidFill>
                  <a:srgbClr val="804160"/>
                </a:solidFill>
              </a:rPr>
              <a:t>Dr. K.S. Gayathri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Category : Academic			Expertise :  AI/ML		Domain Experience : 21 years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4160"/>
              </a:buClr>
              <a:buSzPts val="1200"/>
              <a:buNone/>
            </a:pPr>
            <a:r>
              <a:rPr b="1" lang="en-US" sz="1200">
                <a:solidFill>
                  <a:srgbClr val="804160"/>
                </a:solidFill>
              </a:rPr>
              <a:t>Team Mentor 2 Name: A. Akilan [ Advocate 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Category : Legal Industry		 	Expertise :  Criminal Law		Domain Experience : 3.5 years 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2022-02-11T07:14:46Z</dcterms:created>
  <dc:creator>Sarim Moin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